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14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471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5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900000">
            <a:off x="8191500" y="-1905000"/>
            <a:ext cx="3810000" cy="1409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3619500"/>
            <a:ext cx="11430000" cy="1924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9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Performance</a:t>
            </a:r>
            <a:endParaRPr lang="en-US" sz="69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9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Prediction System</a:t>
            </a:r>
            <a:endParaRPr lang="en-US" sz="6900" dirty="0"/>
          </a:p>
        </p:txBody>
      </p:sp>
      <p:sp>
        <p:nvSpPr>
          <p:cNvPr id="5" name="Text 1"/>
          <p:cNvSpPr/>
          <p:nvPr/>
        </p:nvSpPr>
        <p:spPr>
          <a:xfrm>
            <a:off x="1143000" y="5905500"/>
            <a:ext cx="11430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600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Machine Learning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1143000" y="6858000"/>
            <a:ext cx="114300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AIML Summer Internship 2026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952500" cy="76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143000"/>
            <a:ext cx="762000" cy="76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1238250"/>
            <a:ext cx="14859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Introduction</a:t>
            </a:r>
            <a:endParaRPr lang="en-US" sz="42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3048000"/>
            <a:ext cx="7620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12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of Educational Data Mining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1143000" y="4572000"/>
            <a:ext cx="72390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Educational Data Mining (EDM) applies data mining techniques to educational data to understand students and their learning environments. By analyzing academic indicators, institutions can proactively identify at-risk students and tailor interventions.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9525000" y="3048000"/>
            <a:ext cx="76200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1122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of Prediction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9525000" y="4572000"/>
            <a:ext cx="72390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Predicting performance is crucial for:</a:t>
            </a:r>
            <a:endParaRPr lang="en-US" sz="21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academic support</a:t>
            </a:r>
            <a:endParaRPr lang="en-US" sz="21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Resource allocation optimization</a:t>
            </a:r>
            <a:endParaRPr lang="en-US" sz="21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learning paths</a:t>
            </a:r>
            <a:endParaRPr lang="en-US" sz="2100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Improving institutional success rates</a:t>
            </a:r>
            <a:endParaRPr lang="en-US" sz="2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0" y="3048000"/>
            <a:ext cx="19050" cy="4286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 &amp; Objectives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38500"/>
            <a:ext cx="16002000" cy="6632408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99" y="3238500"/>
            <a:ext cx="85579" cy="6632408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905000" y="3810000"/>
            <a:ext cx="14287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Objective</a:t>
            </a:r>
            <a:endParaRPr lang="en-US" sz="3000" dirty="0"/>
          </a:p>
        </p:txBody>
      </p:sp>
      <p:sp>
        <p:nvSpPr>
          <p:cNvPr id="7" name="Text 2"/>
          <p:cNvSpPr/>
          <p:nvPr/>
        </p:nvSpPr>
        <p:spPr>
          <a:xfrm>
            <a:off x="1905000" y="4572000"/>
            <a:ext cx="142875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develop a machine learning model capable of accurately predicting a student's final examination marks based on early academic indicators and study behaviors.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905000" y="6286500"/>
            <a:ext cx="142875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0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Project Goals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905000" y="7048500"/>
            <a:ext cx="14287500" cy="2190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80000"/>
              </a:lnSpc>
              <a:buSzPct val="100000"/>
              <a:buChar char="•"/>
            </a:pPr>
            <a:r>
              <a:rPr lang="en-US" sz="2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educational data to identify key performance predictors</a:t>
            </a:r>
            <a:endParaRPr lang="en-US" sz="2400" dirty="0"/>
          </a:p>
          <a:p>
            <a:pPr marL="342900" indent="-342900" algn="l">
              <a:lnSpc>
                <a:spcPct val="180000"/>
              </a:lnSpc>
              <a:buSzPct val="100000"/>
              <a:buChar char="•"/>
            </a:pPr>
            <a:r>
              <a:rPr lang="en-US" sz="2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meaningful features like Overall Academic Score</a:t>
            </a:r>
            <a:endParaRPr lang="en-US" sz="2400" dirty="0"/>
          </a:p>
          <a:p>
            <a:pPr marL="342900" indent="-342900" algn="l">
              <a:lnSpc>
                <a:spcPct val="180000"/>
              </a:lnSpc>
              <a:buSzPct val="100000"/>
              <a:buChar char="•"/>
            </a:pPr>
            <a:r>
              <a:rPr lang="en-US" sz="2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and compare Linear Regression and Random Forest models</a:t>
            </a:r>
            <a:endParaRPr lang="en-US" sz="2400" dirty="0"/>
          </a:p>
          <a:p>
            <a:pPr marL="342900" indent="-342900" algn="l">
              <a:lnSpc>
                <a:spcPct val="180000"/>
              </a:lnSpc>
              <a:buSzPct val="100000"/>
              <a:buChar char="•"/>
            </a:pPr>
            <a:r>
              <a:rPr lang="en-US" sz="24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the best performing model via a Streamlit web application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Overview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3810000" cy="190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3810000" cy="76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43000" y="3619500"/>
            <a:ext cx="381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1800" dirty="0"/>
          </a:p>
        </p:txBody>
      </p:sp>
      <p:sp>
        <p:nvSpPr>
          <p:cNvPr id="7" name="Text 2"/>
          <p:cNvSpPr/>
          <p:nvPr/>
        </p:nvSpPr>
        <p:spPr>
          <a:xfrm>
            <a:off x="1143000" y="4000500"/>
            <a:ext cx="3810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2,000</a:t>
            </a:r>
            <a:endParaRPr lang="en-US" sz="4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334000"/>
            <a:ext cx="9525000" cy="3810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524000" y="5715000"/>
            <a:ext cx="857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Features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1524000" y="6477000"/>
            <a:ext cx="85725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(%)</a:t>
            </a:r>
            <a:endParaRPr lang="en-US" sz="18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Test 1 (out of 40)</a:t>
            </a:r>
            <a:endParaRPr lang="en-US" sz="18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Internal Test 2 (out of 40)</a:t>
            </a:r>
            <a:endParaRPr lang="en-US" sz="18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Score (out of 10)</a:t>
            </a:r>
            <a:endParaRPr lang="en-US" sz="18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Study Hours</a:t>
            </a:r>
            <a:endParaRPr lang="en-US" sz="18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49000" y="3048000"/>
            <a:ext cx="6096000" cy="6096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1049000" y="4572000"/>
            <a:ext cx="6096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11049000" y="5238750"/>
            <a:ext cx="60960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Exam Marks</a:t>
            </a:r>
            <a:endParaRPr lang="en-US" sz="36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(out of 100)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Methodology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4191000"/>
            <a:ext cx="1905000" cy="1143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4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Data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0" y="4191000"/>
            <a:ext cx="1905000" cy="1143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810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Data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Cleaning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191000"/>
            <a:ext cx="1905000" cy="11430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96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Exploratory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Analysis</a:t>
            </a:r>
            <a:endParaRPr lang="en-US" sz="15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4191000"/>
            <a:ext cx="1905000" cy="11430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8382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Feature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</a:t>
            </a:r>
            <a:endParaRPr lang="en-US" sz="15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4191000"/>
            <a:ext cx="1905000" cy="1143000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0668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Model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</a:t>
            </a:r>
            <a:endParaRPr lang="en-US" sz="1500" dirty="0"/>
          </a:p>
        </p:txBody>
      </p:sp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0" y="4191000"/>
            <a:ext cx="1905000" cy="1143000"/>
          </a:xfrm>
          <a:prstGeom prst="rect">
            <a:avLst/>
          </a:prstGeom>
        </p:spPr>
      </p:pic>
      <p:sp>
        <p:nvSpPr>
          <p:cNvPr id="15" name="Text 6"/>
          <p:cNvSpPr/>
          <p:nvPr/>
        </p:nvSpPr>
        <p:spPr>
          <a:xfrm>
            <a:off x="12954000" y="4476750"/>
            <a:ext cx="1905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Model</a:t>
            </a:r>
            <a:endParaRPr lang="en-US" sz="15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</a:t>
            </a:r>
            <a:endParaRPr lang="en-US" sz="1500" dirty="0"/>
          </a:p>
        </p:txBody>
      </p:sp>
      <p:pic>
        <p:nvPicPr>
          <p:cNvPr id="16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0" y="4191000"/>
            <a:ext cx="1905000" cy="1143000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15240000" y="4619625"/>
            <a:ext cx="1905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 Deployment</a:t>
            </a:r>
            <a:endParaRPr lang="en-US" sz="1500" dirty="0"/>
          </a:p>
        </p:txBody>
      </p:sp>
      <p:pic>
        <p:nvPicPr>
          <p:cNvPr id="1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4250" y="4743450"/>
            <a:ext cx="190500" cy="38100"/>
          </a:xfrm>
          <a:prstGeom prst="rect">
            <a:avLst/>
          </a:prstGeom>
        </p:spPr>
      </p:pic>
      <p:pic>
        <p:nvPicPr>
          <p:cNvPr id="19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4743450"/>
            <a:ext cx="190500" cy="38100"/>
          </a:xfrm>
          <a:prstGeom prst="rect">
            <a:avLst/>
          </a:prstGeom>
        </p:spPr>
      </p:pic>
      <p:pic>
        <p:nvPicPr>
          <p:cNvPr id="20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4743450"/>
            <a:ext cx="190500" cy="38100"/>
          </a:xfrm>
          <a:prstGeom prst="rect">
            <a:avLst/>
          </a:prstGeom>
        </p:spPr>
      </p:pic>
      <p:pic>
        <p:nvPicPr>
          <p:cNvPr id="2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0" y="4743450"/>
            <a:ext cx="190500" cy="38100"/>
          </a:xfrm>
          <a:prstGeom prst="rect">
            <a:avLst/>
          </a:prstGeom>
        </p:spPr>
      </p:pic>
      <p:pic>
        <p:nvPicPr>
          <p:cNvPr id="22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8250" y="4743450"/>
            <a:ext cx="190500" cy="38100"/>
          </a:xfrm>
          <a:prstGeom prst="rect">
            <a:avLst/>
          </a:prstGeom>
        </p:spPr>
      </p:pic>
      <p:pic>
        <p:nvPicPr>
          <p:cNvPr id="23" name="Image 1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4250" y="4743450"/>
            <a:ext cx="190500" cy="38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7620000" cy="3810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7620000" cy="76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24000" y="36195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Feature 1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524000" y="428625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Internal Marks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524000" y="4762500"/>
            <a:ext cx="6858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(Internal Test 1 + Internal Test 2) / 2</a:t>
            </a:r>
            <a:endParaRPr lang="en-US" sz="18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048000"/>
            <a:ext cx="7620000" cy="381000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048000"/>
            <a:ext cx="7620000" cy="762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9906000" y="36195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 Feature 2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9906000" y="428625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1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Academic Score</a:t>
            </a:r>
            <a:endParaRPr lang="en-US" sz="2100" dirty="0"/>
          </a:p>
        </p:txBody>
      </p:sp>
      <p:sp>
        <p:nvSpPr>
          <p:cNvPr id="13" name="Text 6"/>
          <p:cNvSpPr/>
          <p:nvPr/>
        </p:nvSpPr>
        <p:spPr>
          <a:xfrm>
            <a:off x="9906000" y="4762500"/>
            <a:ext cx="6858000" cy="361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= Attendance + Assignment Score + Study Hour Component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Data Analysis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7620000" cy="70755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4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Marks Distribution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524000" y="4191000"/>
            <a:ext cx="68580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marks follow an approximately normal distribution. The majority of students scored between 55 and 80 marks.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048000"/>
            <a:ext cx="7620000" cy="707557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906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Variations (Boxplot)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9906000" y="4191000"/>
            <a:ext cx="68580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Boxplot analysis reveals the median scores and identifies potential outliers in the dataset, providing insights into the spread of academic performance.</a:t>
            </a:r>
            <a:endParaRPr lang="en-US" sz="18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4AE2ED-E1CC-645F-E797-F5FC332880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062" y="5602704"/>
            <a:ext cx="6619875" cy="447675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26ADDA7-C45C-2412-340C-DDBD11F2866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3" y="5783679"/>
            <a:ext cx="661987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 Analysis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7620000" cy="70515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24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 vs Final Marks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1524000" y="4095750"/>
            <a:ext cx="68580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positive correlation observed. Higher attendance consistently leads to better final marks.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3048000"/>
            <a:ext cx="7620000" cy="705150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9906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Hours vs Final Marks</a:t>
            </a:r>
            <a:endParaRPr lang="en-US" sz="2400" dirty="0"/>
          </a:p>
        </p:txBody>
      </p:sp>
      <p:sp>
        <p:nvSpPr>
          <p:cNvPr id="10" name="Text 4"/>
          <p:cNvSpPr/>
          <p:nvPr/>
        </p:nvSpPr>
        <p:spPr>
          <a:xfrm>
            <a:off x="9906000" y="4095750"/>
            <a:ext cx="68580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Positive impact demonstrated. Increased daily study hours correlate with higher academic performance.</a:t>
            </a:r>
            <a:endParaRPr lang="en-US" sz="1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2EE008B-1339-F296-0281-ADE3DBEC00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0" y="6019800"/>
            <a:ext cx="6619875" cy="4267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A5A9E84-DB63-269B-33C1-539563B79E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5062" y="6019800"/>
            <a:ext cx="6619875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Predictors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6667500" cy="571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76200" cy="57150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714500" y="3619500"/>
            <a:ext cx="5715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0.87</a:t>
            </a:r>
            <a:endParaRPr lang="en-US" sz="3600" dirty="0"/>
          </a:p>
        </p:txBody>
      </p:sp>
      <p:sp>
        <p:nvSpPr>
          <p:cNvPr id="7" name="Text 2"/>
          <p:cNvSpPr/>
          <p:nvPr/>
        </p:nvSpPr>
        <p:spPr>
          <a:xfrm>
            <a:off x="1714500" y="4286250"/>
            <a:ext cx="571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Internal Marks</a:t>
            </a:r>
            <a:endParaRPr lang="en-US" sz="2100" dirty="0"/>
          </a:p>
        </p:txBody>
      </p:sp>
      <p:sp>
        <p:nvSpPr>
          <p:cNvPr id="8" name="Text 3"/>
          <p:cNvSpPr/>
          <p:nvPr/>
        </p:nvSpPr>
        <p:spPr>
          <a:xfrm>
            <a:off x="1714500" y="5334000"/>
            <a:ext cx="5715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0.84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1714500" y="6000750"/>
            <a:ext cx="571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Overall Academic Score</a:t>
            </a:r>
            <a:endParaRPr lang="en-US" sz="2100" dirty="0"/>
          </a:p>
        </p:txBody>
      </p:sp>
      <p:sp>
        <p:nvSpPr>
          <p:cNvPr id="10" name="Text 5"/>
          <p:cNvSpPr/>
          <p:nvPr/>
        </p:nvSpPr>
        <p:spPr>
          <a:xfrm>
            <a:off x="1714500" y="7048500"/>
            <a:ext cx="5715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3600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0.73</a:t>
            </a:r>
            <a:endParaRPr lang="en-US" sz="3600" dirty="0"/>
          </a:p>
        </p:txBody>
      </p:sp>
      <p:sp>
        <p:nvSpPr>
          <p:cNvPr id="11" name="Text 6"/>
          <p:cNvSpPr/>
          <p:nvPr/>
        </p:nvSpPr>
        <p:spPr>
          <a:xfrm>
            <a:off x="1714500" y="7715250"/>
            <a:ext cx="57150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100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Attendance</a:t>
            </a:r>
            <a:endParaRPr lang="en-US" sz="2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0" y="3048000"/>
            <a:ext cx="8572500" cy="5715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572500" y="5715000"/>
            <a:ext cx="857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endParaRPr lang="en-US" sz="24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786794C-0AAA-1B47-D009-D1FD66BC64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0" y="3048000"/>
            <a:ext cx="85725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Development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4762500" cy="19050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4762500" cy="76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143000" y="3619500"/>
            <a:ext cx="476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 Used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143000" y="4191000"/>
            <a:ext cx="4762500" cy="733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Regression</a:t>
            </a:r>
            <a:endParaRPr lang="en-US" sz="18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Forest Regressor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334000"/>
            <a:ext cx="4762500" cy="190500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334000"/>
            <a:ext cx="4762500" cy="762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143000" y="5905500"/>
            <a:ext cx="47625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Train-Test Split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1143000" y="6477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 : 20</a:t>
            </a:r>
            <a:endParaRPr lang="en-US" sz="3600" dirty="0"/>
          </a:p>
        </p:txBody>
      </p:sp>
      <p:pic>
        <p:nvPicPr>
          <p:cNvPr id="1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0321" y="2976560"/>
            <a:ext cx="10477500" cy="65163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02B618-8259-41E7-49A8-DA1C5C96DB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087" y="2748586"/>
            <a:ext cx="10795334" cy="71968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&amp; Model Comparison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7F07343-1A5B-7304-9230-CB7337763D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1" r="501"/>
          <a:stretch>
            <a:fillRect/>
          </a:stretch>
        </p:blipFill>
        <p:spPr>
          <a:xfrm>
            <a:off x="1251283" y="2544678"/>
            <a:ext cx="16001999" cy="74756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1143000"/>
            <a:ext cx="16002000" cy="638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&amp; Future Scope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286000"/>
            <a:ext cx="16002000" cy="1905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048000"/>
            <a:ext cx="7620000" cy="28575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3048000"/>
            <a:ext cx="76200" cy="28575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24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7" name="Text 2"/>
          <p:cNvSpPr/>
          <p:nvPr/>
        </p:nvSpPr>
        <p:spPr>
          <a:xfrm>
            <a:off x="1524000" y="4095750"/>
            <a:ext cx="6858000" cy="10953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8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Random Forest model was successfully deployed as a Streamlit Web Application, allowing for easy, interactive performance predictions based on user inputs.</a:t>
            </a:r>
            <a:endParaRPr lang="en-US" sz="18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5000" y="3048000"/>
            <a:ext cx="7620000" cy="5715000"/>
          </a:xfrm>
          <a:prstGeom prst="rect">
            <a:avLst/>
          </a:prstGeom>
        </p:spPr>
      </p:pic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0" y="3048000"/>
            <a:ext cx="76200" cy="57150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906000" y="3429000"/>
            <a:ext cx="685800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11" name="Text 4"/>
          <p:cNvSpPr/>
          <p:nvPr/>
        </p:nvSpPr>
        <p:spPr>
          <a:xfrm>
            <a:off x="9906000" y="4286250"/>
            <a:ext cx="6858000" cy="2133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Deep Learning techniques</a:t>
            </a:r>
            <a:endParaRPr lang="en-US" sz="21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Mobile Application</a:t>
            </a:r>
            <a:endParaRPr lang="en-US" sz="21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Real-Time Monitoring</a:t>
            </a:r>
            <a:endParaRPr lang="en-US" sz="2100" dirty="0"/>
          </a:p>
          <a:p>
            <a:pPr marL="342900" indent="-342900" algn="l">
              <a:lnSpc>
                <a:spcPct val="200000"/>
              </a:lnSpc>
              <a:buSzPct val="100000"/>
              <a:buChar char="•"/>
            </a:pPr>
            <a:r>
              <a:rPr lang="en-US" sz="21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Cloud Deployment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387318-4C41-D60D-E06B-DB6F49D4C9BD}"/>
              </a:ext>
            </a:extLst>
          </p:cNvPr>
          <p:cNvSpPr/>
          <p:nvPr/>
        </p:nvSpPr>
        <p:spPr>
          <a:xfrm>
            <a:off x="6856004" y="4681835"/>
            <a:ext cx="457599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11626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435</Words>
  <Application>Microsoft Office PowerPoint</Application>
  <PresentationFormat>Custom</PresentationFormat>
  <Paragraphs>99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c9596d80-a99a-4fdd-b4ef-7d0ee75e1688</dc:title>
  <dc:subject>Presentation Export</dc:subject>
  <dc:creator>Design Export</dc:creator>
  <cp:lastModifiedBy>Priyam Singh</cp:lastModifiedBy>
  <cp:revision>2</cp:revision>
  <dcterms:created xsi:type="dcterms:W3CDTF">2026-06-20T11:47:45Z</dcterms:created>
  <dcterms:modified xsi:type="dcterms:W3CDTF">2026-06-20T12:09:46Z</dcterms:modified>
</cp:coreProperties>
</file>